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528dc3aa9449c7" /><Relationship Type="http://schemas.openxmlformats.org/officeDocument/2006/relationships/extended-properties" Target="/docProps/app.xml" Id="R3d52ddf8632c48cc" /><Relationship Type="http://schemas.openxmlformats.org/officeDocument/2006/relationships/officeDocument" Target="/ppt/presentation.xml" Id="Rd6715d47326c4e1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ae6185cee9743b7"/>
  </p:sldMasterIdLst>
  <p:notesMasterIdLst>
    <p:notesMasterId xmlns:r="http://schemas.openxmlformats.org/officeDocument/2006/relationships" r:id="R831037a7254d4ec3"/>
  </p:notesMasterIdLst>
  <p:sldIdLst>
    <p:sldId xmlns:r="http://schemas.openxmlformats.org/officeDocument/2006/relationships" id="256" r:id="R1491f59888ba49bc"/>
    <p:sldId xmlns:r="http://schemas.openxmlformats.org/officeDocument/2006/relationships" id="257" r:id="R6d9d5e4fde994766"/>
    <p:sldId xmlns:r="http://schemas.openxmlformats.org/officeDocument/2006/relationships" id="258" r:id="R645f34822e6d4f5c"/>
    <p:sldId xmlns:r="http://schemas.openxmlformats.org/officeDocument/2006/relationships" id="259" r:id="Reaf4ac247dec4dc5"/>
    <p:sldId xmlns:r="http://schemas.openxmlformats.org/officeDocument/2006/relationships" id="260" r:id="R51a4cbcdde9a44ad"/>
    <p:sldId xmlns:r="http://schemas.openxmlformats.org/officeDocument/2006/relationships" id="261" r:id="Rdbeabd37d6b04379"/>
    <p:sldId xmlns:r="http://schemas.openxmlformats.org/officeDocument/2006/relationships" id="262" r:id="R7d61b8ea0e504a56"/>
    <p:sldId xmlns:r="http://schemas.openxmlformats.org/officeDocument/2006/relationships" id="263" r:id="R6c95b6fc03064c05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5a1d7d4a2991421f"/>
      <p:italic xmlns:r="http://schemas.openxmlformats.org/officeDocument/2006/relationships" r:id="R9ddfa711af764ce1"/>
    </p:embeddedFont>
    <p:embeddedFont>
      <p:font typeface="Lora SemiBold"/>
      <p:regular xmlns:r="http://schemas.openxmlformats.org/officeDocument/2006/relationships" r:id="Rebbcbed0a6744ab6"/>
      <p:bold xmlns:r="http://schemas.openxmlformats.org/officeDocument/2006/relationships" r:id="Rc4978c11a842428a"/>
      <p:italic xmlns:r="http://schemas.openxmlformats.org/officeDocument/2006/relationships" r:id="R8c07597940d64477"/>
      <p:boldItalic xmlns:r="http://schemas.openxmlformats.org/officeDocument/2006/relationships" r:id="R3f9130dea6474dc7"/>
    </p:embeddedFont>
    <p:embeddedFont>
      <p:font typeface="OpenAI Sans"/>
      <p:regular xmlns:r="http://schemas.openxmlformats.org/officeDocument/2006/relationships" r:id="Ra12e2cca62614d3b"/>
      <p:bold xmlns:r="http://schemas.openxmlformats.org/officeDocument/2006/relationships" r:id="Rdcd3136a02234555"/>
      <p:italic xmlns:r="http://schemas.openxmlformats.org/officeDocument/2006/relationships" r:id="R4fde26fbd0f44e5d"/>
      <p:boldItalic xmlns:r="http://schemas.openxmlformats.org/officeDocument/2006/relationships" r:id="Ra376d92f8d344dc8"/>
    </p:embeddedFont>
    <p:embeddedFont>
      <p:font typeface="Roboto"/>
      <p:regular xmlns:r="http://schemas.openxmlformats.org/officeDocument/2006/relationships" r:id="R797c0743b8da4e2d"/>
      <p:bold xmlns:r="http://schemas.openxmlformats.org/officeDocument/2006/relationships" r:id="R8dcb61f122184671"/>
      <p:italic xmlns:r="http://schemas.openxmlformats.org/officeDocument/2006/relationships" r:id="R819d718bdc404956"/>
      <p:boldItalic xmlns:r="http://schemas.openxmlformats.org/officeDocument/2006/relationships" r:id="R4b003776ef474e78"/>
    </p:embeddedFont>
    <p:embeddedFont>
      <p:font typeface="Roboto Medium"/>
      <p:regular xmlns:r="http://schemas.openxmlformats.org/officeDocument/2006/relationships" r:id="R5d93e845e5114418"/>
      <p:italic xmlns:r="http://schemas.openxmlformats.org/officeDocument/2006/relationships" r:id="R3f6254790a474380"/>
    </p:embeddedFont>
    <p:embeddedFont>
      <p:font typeface="Roboto SemiBold"/>
      <p:regular xmlns:r="http://schemas.openxmlformats.org/officeDocument/2006/relationships" r:id="Rb26aa553894b45b7"/>
      <p:bold xmlns:r="http://schemas.openxmlformats.org/officeDocument/2006/relationships" r:id="Ra2299eb0b5e949de"/>
      <p:italic xmlns:r="http://schemas.openxmlformats.org/officeDocument/2006/relationships" r:id="R0aad4df517544eee"/>
      <p:boldItalic xmlns:r="http://schemas.openxmlformats.org/officeDocument/2006/relationships" r:id="R185e748b7445495e"/>
    </p:embeddedFont>
    <p:embeddedFont>
      <p:font typeface="Roboto Serif 14pt"/>
      <p:regular xmlns:r="http://schemas.openxmlformats.org/officeDocument/2006/relationships" r:id="R85530340a0d345a3"/>
      <p:bold xmlns:r="http://schemas.openxmlformats.org/officeDocument/2006/relationships" r:id="R312c758baf174ad1"/>
      <p:italic xmlns:r="http://schemas.openxmlformats.org/officeDocument/2006/relationships" r:id="R1fa122134f9f4634"/>
      <p:boldItalic xmlns:r="http://schemas.openxmlformats.org/officeDocument/2006/relationships" r:id="R0ea9988c74fc48c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59b61aaefd4175" /><Relationship Type="http://schemas.openxmlformats.org/officeDocument/2006/relationships/slideMaster" Target="/ppt/slideMasters/slideMaster1.xml" Id="R3ae6185cee9743b7" /><Relationship Type="http://schemas.openxmlformats.org/officeDocument/2006/relationships/notesMaster" Target="/ppt/notesMasters/notesMaster1.xml" Id="R831037a7254d4ec3" /><Relationship Type="http://schemas.openxmlformats.org/officeDocument/2006/relationships/presProps" Target="/ppt/presProps.xml" Id="Ree90769ca8d04afd" /><Relationship Type="http://schemas.openxmlformats.org/officeDocument/2006/relationships/viewProps" Target="/ppt/viewProps.xml" Id="Re5e87ed86ae54d5c" /><Relationship Type="http://schemas.openxmlformats.org/officeDocument/2006/relationships/tableStyles" Target="/ppt/tableStyles.xml" Id="R1cabe324621d4b42" /><Relationship Type="http://schemas.openxmlformats.org/officeDocument/2006/relationships/font" Target="/ppt/fonts/font.dat" Id="R5a1d7d4a2991421f" /><Relationship Type="http://schemas.openxmlformats.org/officeDocument/2006/relationships/font" Target="/ppt/fonts/font2.dat" Id="R9ddfa711af764ce1" /><Relationship Type="http://schemas.openxmlformats.org/officeDocument/2006/relationships/font" Target="/ppt/fonts/font3.dat" Id="Rebbcbed0a6744ab6" /><Relationship Type="http://schemas.openxmlformats.org/officeDocument/2006/relationships/font" Target="/ppt/fonts/font4.dat" Id="Rc4978c11a842428a" /><Relationship Type="http://schemas.openxmlformats.org/officeDocument/2006/relationships/font" Target="/ppt/fonts/font5.dat" Id="R8c07597940d64477" /><Relationship Type="http://schemas.openxmlformats.org/officeDocument/2006/relationships/font" Target="/ppt/fonts/font6.dat" Id="R3f9130dea6474dc7" /><Relationship Type="http://schemas.openxmlformats.org/officeDocument/2006/relationships/font" Target="/ppt/fonts/font7.dat" Id="Ra12e2cca62614d3b" /><Relationship Type="http://schemas.openxmlformats.org/officeDocument/2006/relationships/font" Target="/ppt/fonts/font8.dat" Id="Rdcd3136a02234555" /><Relationship Type="http://schemas.openxmlformats.org/officeDocument/2006/relationships/font" Target="/ppt/fonts/font9.dat" Id="R4fde26fbd0f44e5d" /><Relationship Type="http://schemas.openxmlformats.org/officeDocument/2006/relationships/font" Target="/ppt/fonts/font10.dat" Id="Ra376d92f8d344dc8" /><Relationship Type="http://schemas.openxmlformats.org/officeDocument/2006/relationships/font" Target="/ppt/fonts/font11.dat" Id="R797c0743b8da4e2d" /><Relationship Type="http://schemas.openxmlformats.org/officeDocument/2006/relationships/font" Target="/ppt/fonts/font12.dat" Id="R8dcb61f122184671" /><Relationship Type="http://schemas.openxmlformats.org/officeDocument/2006/relationships/font" Target="/ppt/fonts/font13.dat" Id="R819d718bdc404956" /><Relationship Type="http://schemas.openxmlformats.org/officeDocument/2006/relationships/font" Target="/ppt/fonts/font14.dat" Id="R4b003776ef474e78" /><Relationship Type="http://schemas.openxmlformats.org/officeDocument/2006/relationships/font" Target="/ppt/fonts/font15.dat" Id="R5d93e845e5114418" /><Relationship Type="http://schemas.openxmlformats.org/officeDocument/2006/relationships/font" Target="/ppt/fonts/font16.dat" Id="R3f6254790a474380" /><Relationship Type="http://schemas.openxmlformats.org/officeDocument/2006/relationships/font" Target="/ppt/fonts/font17.dat" Id="Rb26aa553894b45b7" /><Relationship Type="http://schemas.openxmlformats.org/officeDocument/2006/relationships/font" Target="/ppt/fonts/font18.dat" Id="Ra2299eb0b5e949de" /><Relationship Type="http://schemas.openxmlformats.org/officeDocument/2006/relationships/font" Target="/ppt/fonts/font19.dat" Id="R0aad4df517544eee" /><Relationship Type="http://schemas.openxmlformats.org/officeDocument/2006/relationships/font" Target="/ppt/fonts/font20.dat" Id="R185e748b7445495e" /><Relationship Type="http://schemas.openxmlformats.org/officeDocument/2006/relationships/font" Target="/ppt/fonts/font21.dat" Id="R85530340a0d345a3" /><Relationship Type="http://schemas.openxmlformats.org/officeDocument/2006/relationships/font" Target="/ppt/fonts/font22.dat" Id="R312c758baf174ad1" /><Relationship Type="http://schemas.openxmlformats.org/officeDocument/2006/relationships/font" Target="/ppt/fonts/font23.dat" Id="R1fa122134f9f4634" /><Relationship Type="http://schemas.openxmlformats.org/officeDocument/2006/relationships/font" Target="/ppt/fonts/font24.dat" Id="R0ea9988c74fc48c5" /><Relationship Type="http://schemas.openxmlformats.org/officeDocument/2006/relationships/slide" Target="/ppt/slides/slide1.xml" Id="R1491f59888ba49bc" /><Relationship Type="http://schemas.openxmlformats.org/officeDocument/2006/relationships/slide" Target="/ppt/slides/slide2.xml" Id="R6d9d5e4fde994766" /><Relationship Type="http://schemas.openxmlformats.org/officeDocument/2006/relationships/slide" Target="/ppt/slides/slide3.xml" Id="R645f34822e6d4f5c" /><Relationship Type="http://schemas.openxmlformats.org/officeDocument/2006/relationships/slide" Target="/ppt/slides/slide4.xml" Id="Reaf4ac247dec4dc5" /><Relationship Type="http://schemas.openxmlformats.org/officeDocument/2006/relationships/slide" Target="/ppt/slides/slide5.xml" Id="R51a4cbcdde9a44ad" /><Relationship Type="http://schemas.openxmlformats.org/officeDocument/2006/relationships/slide" Target="/ppt/slides/slide6.xml" Id="Rdbeabd37d6b04379" /><Relationship Type="http://schemas.openxmlformats.org/officeDocument/2006/relationships/slide" Target="/ppt/slides/slide7.xml" Id="R7d61b8ea0e504a56" /><Relationship Type="http://schemas.openxmlformats.org/officeDocument/2006/relationships/slide" Target="/ppt/slides/slide8.xml" Id="R6c95b6fc03064c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c1822ffbd40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e1e4019974015" /><Relationship Type="http://schemas.openxmlformats.org/officeDocument/2006/relationships/notesMaster" Target="/ppt/notesMasters/notesMaster1.xml" Id="Rc5e6448976924e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6292ca80594126" /><Relationship Type="http://schemas.openxmlformats.org/officeDocument/2006/relationships/notesMaster" Target="/ppt/notesMasters/notesMaster1.xml" Id="Re66bd86cce4349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f9e9d691044a17" /><Relationship Type="http://schemas.openxmlformats.org/officeDocument/2006/relationships/notesMaster" Target="/ppt/notesMasters/notesMaster1.xml" Id="R3c403285259342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91f1caadb4437e" /><Relationship Type="http://schemas.openxmlformats.org/officeDocument/2006/relationships/notesMaster" Target="/ppt/notesMasters/notesMaster1.xml" Id="R9faa32a6a41b42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13e5a7d364aef" /><Relationship Type="http://schemas.openxmlformats.org/officeDocument/2006/relationships/notesMaster" Target="/ppt/notesMasters/notesMaster1.xml" Id="R695a3e12acfc41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af47a764e5481b" /><Relationship Type="http://schemas.openxmlformats.org/officeDocument/2006/relationships/notesMaster" Target="/ppt/notesMasters/notesMaster1.xml" Id="R7c1ca84766b142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fb55a76390418d" /><Relationship Type="http://schemas.openxmlformats.org/officeDocument/2006/relationships/notesMaster" Target="/ppt/notesMasters/notesMaster1.xml" Id="R0b075cf16f544c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383ccdd2ec4efc" /><Relationship Type="http://schemas.openxmlformats.org/officeDocument/2006/relationships/notesMaster" Target="/ppt/notesMasters/notesMaster1.xml" Id="R6c684a34d66442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Portada. Imagen generada para la presentación; no representa un hotel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docs/INFORME_FINAL_BORRADOR.md y docs/GUIA_DEFENSA.md.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docs/DECISIONES_DATOS.md. El test de 2017 queda cerrado.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docs/VARIABLES.md, docs/DECISIONES_DATOS.md y docs/INFORME_FINAL_BORRADOR.md.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docs/RESULTADO_FINAL.md.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docs/RESULTADO_FINAL.md. Gráfico editable creado con resultados de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docs/RESULTADO_FINAL.md. Tabla editable con resultados del test de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docs/INFORME_FINAL_BORRADOR.md y docs/GUIA_DEFENSA.md.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b58c46b3345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46e599cfa4b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0cb6332ac44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63678491048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17652508b41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6094741e64f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2eac8820347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2f14cbd00465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1d8d1e77a64f16" /><Relationship Type="http://schemas.openxmlformats.org/officeDocument/2006/relationships/slideLayout" Target="/ppt/slideLayouts/slideLayout1.xml" Id="R4b29091991b449e8" /><Relationship Type="http://schemas.openxmlformats.org/officeDocument/2006/relationships/slideLayout" Target="/ppt/slideLayouts/slideLayout2.xml" Id="Rd8194fb538504359" /><Relationship Type="http://schemas.openxmlformats.org/officeDocument/2006/relationships/slideLayout" Target="/ppt/slideLayouts/slideLayout3.xml" Id="R7697ecd7448b4f21" /><Relationship Type="http://schemas.openxmlformats.org/officeDocument/2006/relationships/slideLayout" Target="/ppt/slideLayouts/slideLayout4.xml" Id="R1827174db94e403c" /><Relationship Type="http://schemas.openxmlformats.org/officeDocument/2006/relationships/slideLayout" Target="/ppt/slideLayouts/slideLayout5.xml" Id="Rbc21ffdad8b045e0" /><Relationship Type="http://schemas.openxmlformats.org/officeDocument/2006/relationships/slideLayout" Target="/ppt/slideLayouts/slideLayout6.xml" Id="R2b1213058228421f" /><Relationship Type="http://schemas.openxmlformats.org/officeDocument/2006/relationships/slideLayout" Target="/ppt/slideLayouts/slideLayout7.xml" Id="Re58e6fb286d148ea" /><Relationship Type="http://schemas.openxmlformats.org/officeDocument/2006/relationships/slideLayout" Target="/ppt/slideLayouts/slideLayout8.xml" Id="R1936f7a13fd4406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9091991b449e8"/>
    <p:sldLayoutId xmlns:r="http://schemas.openxmlformats.org/officeDocument/2006/relationships" id="2147483650" r:id="Rd8194fb538504359"/>
    <p:sldLayoutId xmlns:r="http://schemas.openxmlformats.org/officeDocument/2006/relationships" id="2147483651" r:id="R7697ecd7448b4f21"/>
    <p:sldLayoutId xmlns:r="http://schemas.openxmlformats.org/officeDocument/2006/relationships" id="2147483652" r:id="R1827174db94e403c"/>
    <p:sldLayoutId xmlns:r="http://schemas.openxmlformats.org/officeDocument/2006/relationships" id="2147483653" r:id="Rbc21ffdad8b045e0"/>
    <p:sldLayoutId xmlns:r="http://schemas.openxmlformats.org/officeDocument/2006/relationships" id="2147483654" r:id="R2b1213058228421f"/>
    <p:sldLayoutId xmlns:r="http://schemas.openxmlformats.org/officeDocument/2006/relationships" id="2147483655" r:id="Re58e6fb286d148ea"/>
    <p:sldLayoutId xmlns:r="http://schemas.openxmlformats.org/officeDocument/2006/relationships" id="2147483656" r:id="R1936f7a13fd4406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dcc6470114640" /><Relationship Type="http://schemas.openxmlformats.org/officeDocument/2006/relationships/image" Target="/ppt/media/image.png" Id="Rb96840590381417e" /><Relationship Type="http://schemas.openxmlformats.org/officeDocument/2006/relationships/notesSlide" Target="/ppt/notesSlides/notesSlide1.xml" Id="R01d47a0ab63e48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e6cbfd0134ed6" /><Relationship Type="http://schemas.openxmlformats.org/officeDocument/2006/relationships/notesSlide" Target="/ppt/notesSlides/notesSlide2.xml" Id="R59bcb35b81a5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f356b0b924968" /><Relationship Type="http://schemas.openxmlformats.org/officeDocument/2006/relationships/notesSlide" Target="/ppt/notesSlides/notesSlide3.xml" Id="R710ef27a362140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5ae3d52a44dc7" /><Relationship Type="http://schemas.openxmlformats.org/officeDocument/2006/relationships/notesSlide" Target="/ppt/notesSlides/notesSlide4.xml" Id="R593c64d084f544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b2db0bf8a4346" /><Relationship Type="http://schemas.openxmlformats.org/officeDocument/2006/relationships/notesSlide" Target="/ppt/notesSlides/notesSlide5.xml" Id="R08eb79d34e4b4f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5a1a235814439" /><Relationship Type="http://schemas.openxmlformats.org/officeDocument/2006/relationships/chart" Target="/ppt/slides/charts/chart1.xml" Id="Rd70facfb63e4475c" /><Relationship Type="http://schemas.openxmlformats.org/officeDocument/2006/relationships/notesSlide" Target="/ppt/notesSlides/notesSlide6.xml" Id="R36886389c1a349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303493b1c4c56" /><Relationship Type="http://schemas.openxmlformats.org/officeDocument/2006/relationships/notesSlide" Target="/ppt/notesSlides/notesSlide7.xml" Id="R26f89d3574c444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443757eb64420" /><Relationship Type="http://schemas.openxmlformats.org/officeDocument/2006/relationships/notesSlide" Target="/ppt/notesSlides/notesSlide8.xml" Id="R12bd21e0dcea43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285E8E"/>
            </a:solidFill>
          </c:spPr>
          <c:cat>
            <c:strRef>
              <c:f>'Chart Data'!$A$2:$A$6</c:f>
              <c:strCache>
                <c:ptCount val="5"/>
                <c:pt idx="0">
                  <c:v>XGBoost</c:v>
                </c:pt>
                <c:pt idx="1">
                  <c:v>Random Forest</c:v>
                </c:pt>
                <c:pt idx="2">
                  <c:v>Red pequeña</c:v>
                </c:pt>
                <c:pt idx="3">
                  <c:v>Logística</c:v>
                </c:pt>
                <c:pt idx="4">
                  <c:v>Árbol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0.6218</c:v>
                </c:pt>
                <c:pt idx="1">
                  <c:v>0.6089</c:v>
                </c:pt>
                <c:pt idx="2">
                  <c:v>0.6054</c:v>
                </c:pt>
                <c:pt idx="3">
                  <c:v>0.5981</c:v>
                </c:pt>
                <c:pt idx="4">
                  <c:v>0.5889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84059038141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6B17-59A1-48D9-8FF1-975505D0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0E832-BB8D-4CBF-AAA1-2925A1B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1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Predicción de cancelaciones hoteleras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8D38D-FBC6-4770-9D83-08255A05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CE8F5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DCE8F5"/>
                </a:solidFill>
                <a:latin typeface="Roboto"/>
                <a:ea typeface="Roboto"/>
                <a:cs typeface="Roboto"/>
              </a:rPr>
              <a:t>Proyecto de 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EB11B-4684-493F-9931-827D1B3F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Equipo: [completar nombres]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F8694-AF80-4B24-9F5C-98F5DAB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CE8F5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DCE8F5"/>
                </a:solidFill>
                <a:latin typeface="Roboto"/>
                <a:ea typeface="Roboto"/>
                <a:cs typeface="Roboto"/>
              </a:rPr>
              <a:t>Máster PontIA  ·  2026</a:t>
            </a:r>
          </a:p>
        </p:txBody>
      </p:sp>
    </p:spTree>
    <p:extLst>
      <p:ext uri="{BB962C8B-B14F-4D97-AF65-F5344CB8AC3E}">
        <p14:creationId xmlns:p14="http://schemas.microsoft.com/office/powerpoint/2010/main" val="848439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4F465-AEA2-4DA9-AA06-15ED2522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Objetivo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32700-F606-49DA-8134-06E903B9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52616B"/>
                </a:solidFill>
                <a:latin typeface="Roboto"/>
                <a:ea typeface="Roboto"/>
                <a:cs typeface="Roboto"/>
              </a:rPr>
              <a:t>Estimar el riesgo de cancelación justo después de confirmar la reserva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EE374-A1E9-48A0-B124-F766576D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102A43"/>
                </a:solidFill>
                <a:latin typeface="Roboto"/>
                <a:ea typeface="Roboto"/>
                <a:cs typeface="Roboto"/>
              </a:rPr>
              <a:t>La predicción permite anticipar ocupación, ajustar la planificación y priorizar acciones preventivas.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AC961-7EAD-45DC-81B1-AAE94EAE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5450"/>
            <a:ext cx="34290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3CE43-7165-465D-A914-966EE657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5E8E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85E8E"/>
                </a:solidFill>
                <a:latin typeface="Roboto"/>
                <a:ea typeface="Roboto"/>
                <a:cs typeface="Roboto"/>
              </a:rPr>
              <a:t>Variable 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A5FF3-951A-42EE-9593-62E1FF20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193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40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is_canceled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9BCBA-3FD8-4C36-81F5-81AB13DF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0 = no cancelada</a:t>
            </a:r>
          </a:p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1 = cancelada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FA593-995A-4CCA-BA81-EF19C46B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67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Criterio principal: F1. Equilibra la detección de cancelaciones con el coste de falsas alarmas.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9FFBF-44BC-4BBC-AAA5-DC385F98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96"/>
                </a:solidFill>
                <a:latin typeface="Roboto"/>
                <a:ea typeface="Roboto"/>
                <a:cs typeface="Roboto"/>
              </a:defRPr>
            </a:pPr>
            <a:r>
              <a:rPr sz="825">
                <a:solidFill>
                  <a:srgbClr val="718096"/>
                </a:solidFill>
                <a:latin typeface="Roboto"/>
                <a:ea typeface="Roboto"/>
                <a:cs typeface="Roboto"/>
              </a:rPr>
              <a:t>Predicción de cancelaciones hoteleras  ·  2</a:t>
            </a:r>
          </a:p>
        </p:txBody>
      </p:sp>
    </p:spTree>
    <p:extLst>
      <p:ext uri="{BB962C8B-B14F-4D97-AF65-F5344CB8AC3E}">
        <p14:creationId xmlns:p14="http://schemas.microsoft.com/office/powerpoint/2010/main" val="713939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DCD32-8EA0-4AE7-B2C8-EFC8BD4E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Datos y diseño temporal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9781D-5A9D-45E1-AE0D-C5A7A47B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52616B"/>
                </a:solidFill>
                <a:latin typeface="Roboto"/>
                <a:ea typeface="Roboto"/>
                <a:cs typeface="Roboto"/>
              </a:rPr>
              <a:t>El modelo aprende con el pasado y se valida en periodos posteriores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640F3-8650-4791-B824-3D196F39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8BFEC-CF77-4F02-A77C-19345B73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5E8E"/>
                </a:solidFill>
                <a:latin typeface="Roboto"/>
                <a:ea typeface="Roboto"/>
                <a:cs typeface="Roboto"/>
              </a:defRPr>
            </a:pPr>
            <a:r>
              <a:rPr sz="2250" b="1">
                <a:solidFill>
                  <a:srgbClr val="285E8E"/>
                </a:solidFill>
                <a:latin typeface="Roboto"/>
                <a:ea typeface="Roboto"/>
                <a:cs typeface="Roboto"/>
              </a:rPr>
              <a:t>119.390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BD753-07B3-42D0-A325-846650AE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00">
                <a:solidFill>
                  <a:srgbClr val="52616B"/>
                </a:solidFill>
                <a:latin typeface="Roboto"/>
                <a:ea typeface="Roboto"/>
                <a:cs typeface="Roboto"/>
              </a:rPr>
              <a:t>registros originales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32431-34ED-4499-9C27-A2D9415E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66875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D1F86-4A9C-4A73-83CE-3DC066A9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764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5E8E"/>
                </a:solidFill>
                <a:latin typeface="Roboto"/>
                <a:ea typeface="Roboto"/>
                <a:cs typeface="Roboto"/>
              </a:defRPr>
            </a:pPr>
            <a:r>
              <a:rPr sz="2250" b="1">
                <a:solidFill>
                  <a:srgbClr val="285E8E"/>
                </a:solidFill>
                <a:latin typeface="Roboto"/>
                <a:ea typeface="Roboto"/>
                <a:cs typeface="Roboto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8FD10-C44B-42BE-8529-F0A409CB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62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00">
                <a:solidFill>
                  <a:srgbClr val="52616B"/>
                </a:solidFill>
                <a:latin typeface="Roboto"/>
                <a:ea typeface="Roboto"/>
                <a:cs typeface="Roboto"/>
              </a:rPr>
              <a:t>variables iniciales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EE0A8-9E12-4889-99DF-81D855A9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66875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CFC51-7E13-412A-86E1-CA418F1C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764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5E8E"/>
                </a:solidFill>
                <a:latin typeface="Roboto"/>
                <a:ea typeface="Roboto"/>
                <a:cs typeface="Roboto"/>
              </a:defRPr>
            </a:pPr>
            <a:r>
              <a:rPr sz="2250" b="1">
                <a:solidFill>
                  <a:srgbClr val="285E8E"/>
                </a:solidFill>
                <a:latin typeface="Roboto"/>
                <a:ea typeface="Roboto"/>
                <a:cs typeface="Roboto"/>
              </a:rPr>
              <a:t>31.994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74038-D856-4F26-AD2E-BA18F851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62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00">
                <a:solidFill>
                  <a:srgbClr val="52616B"/>
                </a:solidFill>
                <a:latin typeface="Roboto"/>
                <a:ea typeface="Roboto"/>
                <a:cs typeface="Roboto"/>
              </a:rPr>
              <a:t>duplicados exactos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CE06F-983C-4418-A109-19E6DD94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57D34-C465-400B-B4A1-4C2D42C4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Entrenamiento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D1694-D884-4E1F-9E5B-89873C8B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hasta 30/09/2016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F7920-D2DC-42E8-96FF-7700CBE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1475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4CBB7-FD4C-487E-9C0D-A34A364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Validación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045E5-5FF2-47DA-942D-42F732BB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43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01/10–31/12/2016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CC3F2-3BD5-471A-9D5B-AB9DE7DD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39E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F23FA-2B89-4D30-9AD5-85D8E3E5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Test cerrado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71D02-36FC-48E9-A1FD-13FBCD8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43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año 2017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3075F-703C-4C74-9592-040F1C01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Se eliminan duplicados exactos dentro de una transformación reproducible. El periodo de 2017 se reserva para una única evaluación final.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AC2BF-2AA2-4FF3-8F19-4E8A0F1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96"/>
                </a:solidFill>
                <a:latin typeface="Roboto"/>
                <a:ea typeface="Roboto"/>
                <a:cs typeface="Roboto"/>
              </a:defRPr>
            </a:pPr>
            <a:r>
              <a:rPr sz="825">
                <a:solidFill>
                  <a:srgbClr val="718096"/>
                </a:solidFill>
                <a:latin typeface="Roboto"/>
                <a:ea typeface="Roboto"/>
                <a:cs typeface="Roboto"/>
              </a:rPr>
              <a:t>Predicción de cancelaciones hoteleras  ·  3</a:t>
            </a:r>
          </a:p>
        </p:txBody>
      </p:sp>
    </p:spTree>
    <p:extLst>
      <p:ext uri="{BB962C8B-B14F-4D97-AF65-F5344CB8AC3E}">
        <p14:creationId xmlns:p14="http://schemas.microsoft.com/office/powerpoint/2010/main" val="680015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405FC-8F8D-4727-8A96-304A139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Variables y prevención de fugas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A3499-0675-4B02-8C5E-106F9EF1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52616B"/>
                </a:solidFill>
                <a:latin typeface="Roboto"/>
                <a:ea typeface="Roboto"/>
                <a:cs typeface="Roboto"/>
              </a:rPr>
              <a:t>La información debe estar disponible al confirmar la reserva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EA65A-F5A0-43DD-8142-BF84F071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6B250-CE6A-4C88-BDA9-2A4EDAFF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D0AB2-7DE0-4AF3-8939-F0647BE5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0F766E"/>
                </a:solidFill>
                <a:latin typeface="Roboto"/>
                <a:ea typeface="Roboto"/>
                <a:cs typeface="Roboto"/>
              </a:rPr>
              <a:t>23 predictores finales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2311F-DD6F-4235-A2C6-7D0017E8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Información de la reserva, perfil del cliente, historial, canal, depósito, precio y estacionalidad de la semana.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75A8C-5594-4240-8F7F-2319876D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5B00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A25B00"/>
                </a:solidFill>
                <a:latin typeface="Roboto"/>
                <a:ea typeface="Roboto"/>
                <a:cs typeface="Roboto"/>
              </a:rPr>
              <a:t>Variables excluidas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7601-9CB9-4C0C-AE8F-3C87F50C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reservation_status y reservation_status_date por fuga directa. También se excluyen datos posteriores a la reserva y company por ausencia elevada.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FC2A6-5864-4060-8228-471DEE65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02A43"/>
                </a:solidFill>
                <a:latin typeface="Roboto"/>
                <a:ea typeface="Roboto"/>
                <a:cs typeface="Roboto"/>
              </a:rPr>
              <a:t>Imputación, codificación y escalado se ajustan solo con entrenamiento dentro del pipeline.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3E6E3-4FA6-4E2C-9621-33763EDE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96"/>
                </a:solidFill>
                <a:latin typeface="Roboto"/>
                <a:ea typeface="Roboto"/>
                <a:cs typeface="Roboto"/>
              </a:defRPr>
            </a:pPr>
            <a:r>
              <a:rPr sz="825">
                <a:solidFill>
                  <a:srgbClr val="718096"/>
                </a:solidFill>
                <a:latin typeface="Roboto"/>
                <a:ea typeface="Roboto"/>
                <a:cs typeface="Roboto"/>
              </a:rPr>
              <a:t>Predicción de cancelaciones hoteleras  ·  4</a:t>
            </a:r>
          </a:p>
        </p:txBody>
      </p:sp>
    </p:spTree>
    <p:extLst>
      <p:ext uri="{BB962C8B-B14F-4D97-AF65-F5344CB8AC3E}">
        <p14:creationId xmlns:p14="http://schemas.microsoft.com/office/powerpoint/2010/main" val="1654713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97C8B-FC23-406F-9D4B-59E2E40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Modelos comparados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7879E-5EB9-4D30-B890-4C7E02E8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52616B"/>
                </a:solidFill>
                <a:latin typeface="Roboto"/>
                <a:ea typeface="Roboto"/>
                <a:cs typeface="Roboto"/>
              </a:rPr>
              <a:t>Mismo conjunto de variables, periodos y métricas para todos los candidatos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6E51B-C2D9-4FA5-885C-8656D58B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EDD4B-6911-4848-A116-317B05C8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Regresión logística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FF565-8531-48AA-B7E6-FDD54674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06CC7-6712-473B-9B18-835C916C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Árbol de decisión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43422-43A9-48F1-BD51-88FB3E0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2F131-7EF6-429F-BBE6-19BC4C3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2B034-19C1-4905-9BCA-AFDADA34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9E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87536-F587-4DAE-BA9D-90BD5178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142735"/>
                </a:solidFill>
                <a:latin typeface="Roboto"/>
                <a:ea typeface="Roboto"/>
                <a:cs typeface="Roboto"/>
              </a:rPr>
              <a:t>XGBoost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D404C-74F8-48D3-9F63-4CE3813F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F4DB2-F01E-4827-8E3C-685C66DB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Red neuronal Keras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81056-B27E-4DF4-AD46-E9E2FC66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4857750" cy="2743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59A9B-5280-4FBE-AC22-092AB4B0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Selección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92891-1C43-4BE0-8BBE-F475FB07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143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Búsqueda aleatoria con validación cruzada temporal para modelos clásicos. Se comparan tres arquitecturas Keras y se ajusta el umbral por F1 en validación.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13C5B-B919-49D1-B6D7-8BE1AD86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02A43"/>
                </a:solidFill>
                <a:latin typeface="Roboto"/>
                <a:ea typeface="Roboto"/>
                <a:cs typeface="Roboto"/>
              </a:rPr>
              <a:t>La decisión final se tomó antes de consultar 2017.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63C25-00F3-4429-96A8-68B884A2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96"/>
                </a:solidFill>
                <a:latin typeface="Roboto"/>
                <a:ea typeface="Roboto"/>
                <a:cs typeface="Roboto"/>
              </a:defRPr>
            </a:pPr>
            <a:r>
              <a:rPr sz="825">
                <a:solidFill>
                  <a:srgbClr val="718096"/>
                </a:solidFill>
                <a:latin typeface="Roboto"/>
                <a:ea typeface="Roboto"/>
                <a:cs typeface="Roboto"/>
              </a:rPr>
              <a:t>Predicción de cancelaciones hoteleras  ·  5</a:t>
            </a:r>
          </a:p>
        </p:txBody>
      </p:sp>
    </p:spTree>
    <p:extLst>
      <p:ext uri="{BB962C8B-B14F-4D97-AF65-F5344CB8AC3E}">
        <p14:creationId xmlns:p14="http://schemas.microsoft.com/office/powerpoint/2010/main" val="1746603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CD92E-0A97-4031-85A3-452C6408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Resultados de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4B0FB-6356-44C9-BA72-738DF54B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52616B"/>
                </a:solidFill>
                <a:latin typeface="Roboto"/>
                <a:ea typeface="Roboto"/>
                <a:cs typeface="Roboto"/>
              </a:rPr>
              <a:t>XGBoost obtiene el mayor F1 y se selecciona como modelo final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657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0facfb63e4475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2D2CF-047C-4614-AC32-5A686BBA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2952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C3918-B6D7-4818-AA41-24D0F7D6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5E8E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85E8E"/>
                </a:solidFill>
                <a:latin typeface="Roboto"/>
                <a:ea typeface="Roboto"/>
                <a:cs typeface="Roboto"/>
              </a:rPr>
              <a:t>Modelo elegido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3462C-00BE-45ED-A150-22758BA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XGBoost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08B58-F50A-4EC6-B92F-E6379E98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35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F1 validación: 0,6218</a:t>
            </a:r>
          </a:p>
          <a:p xmlns:a="http://schemas.openxmlformats.org/drawingml/2006/main">
            <a:pPr>
              <a:defRPr sz="135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35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ROC-AUC: 0,8277</a:t>
            </a:r>
          </a:p>
          <a:p xmlns:a="http://schemas.openxmlformats.org/drawingml/2006/main">
            <a:pPr>
              <a:defRPr sz="135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35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Umbral: 0,3619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90295-8878-4F02-9438-B071B3CA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96"/>
                </a:solidFill>
                <a:latin typeface="Roboto"/>
                <a:ea typeface="Roboto"/>
                <a:cs typeface="Roboto"/>
              </a:defRPr>
            </a:pPr>
            <a:r>
              <a:rPr sz="825">
                <a:solidFill>
                  <a:srgbClr val="718096"/>
                </a:solidFill>
                <a:latin typeface="Roboto"/>
                <a:ea typeface="Roboto"/>
                <a:cs typeface="Roboto"/>
              </a:rPr>
              <a:t>Predicción de cancelaciones hoteleras  ·  6</a:t>
            </a:r>
          </a:p>
        </p:txBody>
      </p:sp>
    </p:spTree>
    <p:extLst>
      <p:ext uri="{BB962C8B-B14F-4D97-AF65-F5344CB8AC3E}">
        <p14:creationId xmlns:p14="http://schemas.microsoft.com/office/powerpoint/2010/main" val="1711605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76E13-2FCA-4852-A8E8-F71EF8B3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Evaluación final en 2017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BC8D1-AA14-45EB-B7F4-2BD3AA7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52616B"/>
                </a:solidFill>
                <a:latin typeface="Roboto"/>
                <a:ea typeface="Roboto"/>
                <a:cs typeface="Roboto"/>
              </a:rPr>
              <a:t>Una única evaluación tras fijar modelo, hiperparámetros y umbral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714500" y="1619250"/>
          <a:ext xmlns:a="http://schemas.openxmlformats.org/drawingml/2006/main" cx="5905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952750"/>
              </a:tblGrid>
              <a:tr h="508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0,6866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0,5055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0,8289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0,6280</a:t>
                      </a:r>
                    </a:p>
                  </a:txBody>
                  <a:tcPr marL="91440" marR="91440" marT="45720" marB="45720">
                    <a:solidFill>
                      <a:srgbClr val="FFF1D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ROC-AUC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</a:rPr>
                        <a:t>0,8098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E3868-1A38-4E5A-8A8B-26B41AE4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42735"/>
                </a:solidFill>
                <a:latin typeface="Roboto"/>
                <a:ea typeface="Roboto"/>
                <a:cs typeface="Roboto"/>
              </a:rPr>
              <a:t>El recall elevado identifica la mayoría de cancelaciones. La precisión refleja las falsas alarmas asumidas para priorizar prevención.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B6F58-119E-48CE-8E09-014B173E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96"/>
                </a:solidFill>
                <a:latin typeface="Roboto"/>
                <a:ea typeface="Roboto"/>
                <a:cs typeface="Roboto"/>
              </a:defRPr>
            </a:pPr>
            <a:r>
              <a:rPr sz="825">
                <a:solidFill>
                  <a:srgbClr val="718096"/>
                </a:solidFill>
                <a:latin typeface="Roboto"/>
                <a:ea typeface="Roboto"/>
                <a:cs typeface="Roboto"/>
              </a:rPr>
              <a:t>Predicción de cancelaciones hoteleras  ·  7</a:t>
            </a:r>
          </a:p>
        </p:txBody>
      </p:sp>
    </p:spTree>
    <p:extLst>
      <p:ext uri="{BB962C8B-B14F-4D97-AF65-F5344CB8AC3E}">
        <p14:creationId xmlns:p14="http://schemas.microsoft.com/office/powerpoint/2010/main" val="7462876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55CB4-01D1-44AB-B0F3-035564A2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Conclusiones y próximos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5C6FF-8702-4F2A-BC68-6C0EE6C5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Roboto"/>
                <a:ea typeface="Roboto"/>
                <a:cs typeface="Roboto"/>
              </a:defRPr>
            </a:pPr>
            <a:r>
              <a:rPr sz="1275">
                <a:solidFill>
                  <a:srgbClr val="52616B"/>
                </a:solidFill>
                <a:latin typeface="Roboto"/>
                <a:ea typeface="Roboto"/>
                <a:cs typeface="Roboto"/>
              </a:rPr>
              <a:t>El sistema queda preparado para generar probabilidades sobre nuevas reservas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FC6A2-D362-4A0E-B406-FB93CE94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5E8E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85E8E"/>
                </a:solidFill>
                <a:latin typeface="Roboto"/>
                <a:ea typeface="Roboto"/>
                <a:cs typeface="Roboto"/>
              </a:rPr>
              <a:t>Resultado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3219C-883B-4014-857C-80EA5B4A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19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XGBoost alcanza F1 de 0,6280 en reservas futuras de 2017.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7D851-42FD-43FF-9178-C301AE3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9E037-CBAA-4D5E-8E52-486E12C1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14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El script de inferencia devuelve probabilidad y decisión con umbral 0,3619.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8DE23-C2E3-45FA-BCB4-644D424F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Limitaciones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A8D77-68FF-4241-8574-3ACA57C8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La deriva temporal y el coste de falsas alarmas requieren seguimiento.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6C226-3947-45B2-8F58-3C643D18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Siguiente fase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A54EF-670D-4EF3-BF88-0A431C9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053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735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42735"/>
                </a:solidFill>
                <a:latin typeface="Roboto"/>
                <a:ea typeface="Roboto"/>
                <a:cs typeface="Roboto"/>
              </a:rPr>
              <a:t>Comparar propuestas del equipo y cerrar informe, gráficos y defensa.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01A02-1937-4992-8BE4-2BF5C56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Roboto"/>
                <a:ea typeface="Roboto"/>
                <a:cs typeface="Roboto"/>
              </a:defRPr>
            </a:pPr>
            <a:r>
              <a:rPr sz="2400" b="1">
                <a:solidFill>
                  <a:srgbClr val="102A43"/>
                </a:solidFill>
                <a:latin typeface="Roboto"/>
                <a:ea typeface="Roboto"/>
                <a:cs typeface="Roboto"/>
              </a:rPr>
              <a:t>Gracias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7B1F2-A3B5-40CF-9BC4-E6837A9A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096"/>
                </a:solidFill>
                <a:latin typeface="Roboto"/>
                <a:ea typeface="Roboto"/>
                <a:cs typeface="Roboto"/>
              </a:defRPr>
            </a:pPr>
            <a:r>
              <a:rPr sz="825">
                <a:solidFill>
                  <a:srgbClr val="718096"/>
                </a:solidFill>
                <a:latin typeface="Roboto"/>
                <a:ea typeface="Roboto"/>
                <a:cs typeface="Roboto"/>
              </a:rPr>
              <a:t>Predicción de cancelaciones hoteleras  ·  8</a:t>
            </a:r>
          </a:p>
        </p:txBody>
      </p:sp>
    </p:spTree>
    <p:extLst>
      <p:ext uri="{BB962C8B-B14F-4D97-AF65-F5344CB8AC3E}">
        <p14:creationId xmlns:p14="http://schemas.microsoft.com/office/powerpoint/2010/main" val="162201173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2026-09-10T16:34:32.7470000Z</dcterms:created>
  <dcterms:modified xsi:type="dcterms:W3CDTF">2026-09-10T16:34:32.7470000Z</dcterms:modified>
</coreProperties>
</file>